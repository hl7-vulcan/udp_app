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0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A965B-E2FA-2B88-1E88-E23A38574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5413DA-C750-D334-86DB-A4B31192B6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7ED85-19CA-7A84-4E6B-111278A8E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71BC-5603-4E80-AAE3-200D6864E0A0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9E876-116B-7B55-F6F1-B2189D9FA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5B0DC-85AE-3617-84B7-E3D1B24F3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E4BB-C51A-445F-B4C9-63E038C653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830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069ED-56E3-CC44-7B81-5AA03638E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5101B-A64B-34EB-AA11-710CDB36D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BAA85-8C58-F5C3-EBA1-169CF585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71BC-5603-4E80-AAE3-200D6864E0A0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500D3-A20D-6674-60A1-D82EDE54B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D3037-CFAD-CEE6-6D0B-D7B1FF47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E4BB-C51A-445F-B4C9-63E038C653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1334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8255B-ABC4-A501-06AE-1D75C1A7B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C7F56-55A6-85CB-4C7B-DD5D4C978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37F1F-126D-0A14-ADB3-3C3057329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71BC-5603-4E80-AAE3-200D6864E0A0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430AD-700C-D9E4-03F4-CCDB1B139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00E23-4AFA-16FA-F75B-DC9BD40EC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E4BB-C51A-445F-B4C9-63E038C653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104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B0F2-12CF-73F3-F2D9-A001253EA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12092-8F3B-AB81-72EF-B806A91DC7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D5CEA9-600D-E124-1DCA-1131E6C3A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724CF-F540-BD6A-C0E7-80F8AFE37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71BC-5603-4E80-AAE3-200D6864E0A0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02A9A-77C6-DB10-CCF2-2ACD23F75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D37F0-CF13-5B27-5FCB-8EBE66D2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E4BB-C51A-445F-B4C9-63E038C653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551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D3764-B488-1D4E-D62A-D4DB5C85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4E6B7-6864-E4E6-263E-02E65BD9B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B364C-D5CD-CE8B-8072-5555F0F8E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4BEE7-DB6C-02CB-857F-F182844A7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CDE3D1-7447-C5D9-5087-E33D219253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E3ABEB-A8FA-AC8C-E45A-9E03D7782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71BC-5603-4E80-AAE3-200D6864E0A0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AE9DEF-A4FA-42E6-664C-3FF8863E2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89C35-A672-A939-9DB0-311E97652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E4BB-C51A-445F-B4C9-63E038C653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5805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886F6-7F28-DEFB-A317-D0ED354A8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7946F-0066-BC4B-3407-8807EEB3A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71BC-5603-4E80-AAE3-200D6864E0A0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1AB33-F047-E88F-5C2B-3DB0A2D2B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063F7-6BBA-13B2-D2ED-6069E7E0B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E4BB-C51A-445F-B4C9-63E038C653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3831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D4D3F-6158-2EBD-5769-BB6EB4F5C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71BC-5603-4E80-AAE3-200D6864E0A0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34B90A-166C-51EE-DBAA-E0646BB94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63AB4-A6FA-4E64-1A3C-3FD07D2CE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E4BB-C51A-445F-B4C9-63E038C653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544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EAA94-D448-768E-C2C6-4CBF0459B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DFBB1-FB77-26DC-2DD6-468610958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69DBC-7606-5213-9EBB-5E54D6D4F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9A11E-E2EB-9C2A-045F-7B343B6F0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71BC-5603-4E80-AAE3-200D6864E0A0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D418C-1E99-384D-FFA5-16059EC21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D5580-FBF4-A6AF-4F7F-9CEED138E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E4BB-C51A-445F-B4C9-63E038C653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162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464B4-F3E0-228E-E088-D551A4155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67596-0E48-63FE-1731-C2FFDD29B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322F6-5857-7423-9E3D-28325F440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6A0277-371B-33DC-7759-B6974F34C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71BC-5603-4E80-AAE3-200D6864E0A0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B7734-0954-5B4D-EA19-E4CB6DC28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C2FA6-1CAB-9543-2974-7F28952E5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E4BB-C51A-445F-B4C9-63E038C653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024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5DC8-830D-8FA5-E249-3418AE2F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879D24-35ED-B41F-A885-6ACE1F2CD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C4F4D-5EE9-56FB-B587-A845D70BA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71BC-5603-4E80-AAE3-200D6864E0A0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F0034-77BA-F27A-D40C-24AF3A7CB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CBBEF-2AB8-0C20-93BC-AB86EE229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E4BB-C51A-445F-B4C9-63E038C653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306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314414-2E0B-84BE-7566-231A43BBD2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C86DA1-F138-6315-B7D1-C682C8899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583C6-BD4D-C900-2A46-D1A4686D4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A71BC-5603-4E80-AAE3-200D6864E0A0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B6E66-44A1-4936-FF21-33C869D6D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F3A06-ECF4-07F3-9C03-794A21916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6E4BB-C51A-445F-B4C9-63E038C653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605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35E90-6266-BFB4-CF64-312C8D5B5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26061-18A9-2FC8-9C95-E56B19CE3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14DD7-E311-43D7-C711-2BC2BC47C8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BA71BC-5603-4E80-AAE3-200D6864E0A0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5632F-CEE6-A380-CBEC-A6B68873E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F4C7D-C690-4553-E1B2-119D458F59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46E4BB-C51A-445F-B4C9-63E038C653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573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6E03C-B33B-792B-59F1-8B7DD7F8BD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R6 vs R5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15BE6-0947-AB5D-126C-D7B2634723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963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7D68E3-5DAB-5387-5305-8D88A39F13BF}"/>
              </a:ext>
            </a:extLst>
          </p:cNvPr>
          <p:cNvSpPr txBox="1"/>
          <p:nvPr/>
        </p:nvSpPr>
        <p:spPr>
          <a:xfrm>
            <a:off x="1761945" y="1189514"/>
            <a:ext cx="9530032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      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>
                <a:solidFill>
                  <a:srgbClr val="1E6496"/>
                </a:solidFill>
                <a:highlight>
                  <a:srgbClr val="00FF00"/>
                </a:highlight>
              </a:rPr>
              <a:t>description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>
                <a:solidFill>
                  <a:srgbClr val="640032"/>
                </a:solidFill>
              </a:rPr>
              <a:t>: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FF"/>
                </a:solidFill>
              </a:rPr>
              <a:t>"</a:t>
            </a:r>
            <a:r>
              <a:rPr lang="en-GB" dirty="0">
                <a:solidFill>
                  <a:srgbClr val="0000FF"/>
                </a:solidFill>
                <a:highlight>
                  <a:srgbClr val="FFFF00"/>
                </a:highlight>
              </a:rPr>
              <a:t>aged 18 to 75 years</a:t>
            </a:r>
            <a:r>
              <a:rPr lang="en-GB" dirty="0">
                <a:solidFill>
                  <a:srgbClr val="0000FF"/>
                </a:solidFill>
              </a:rPr>
              <a:t>"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ED586-B54B-1629-0FAA-E9BDFD5B9010}"/>
              </a:ext>
            </a:extLst>
          </p:cNvPr>
          <p:cNvSpPr txBox="1"/>
          <p:nvPr/>
        </p:nvSpPr>
        <p:spPr>
          <a:xfrm>
            <a:off x="1805078" y="2159833"/>
            <a:ext cx="9530032" cy="31393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      </a:t>
            </a:r>
            <a:r>
              <a:rPr lang="en-GB" dirty="0">
                <a:solidFill>
                  <a:srgbClr val="1E6496"/>
                </a:solidFill>
              </a:rPr>
              <a:t>"extension"</a:t>
            </a:r>
            <a:r>
              <a:rPr lang="en-GB" dirty="0">
                <a:solidFill>
                  <a:srgbClr val="640032"/>
                </a:solidFill>
              </a:rPr>
              <a:t>: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960000"/>
                </a:solidFill>
              </a:rPr>
              <a:t>[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</a:t>
            </a:r>
            <a:r>
              <a:rPr lang="en-GB" dirty="0">
                <a:solidFill>
                  <a:srgbClr val="960000"/>
                </a:solidFill>
              </a:rPr>
              <a:t>{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  </a:t>
            </a:r>
            <a:r>
              <a:rPr lang="en-GB" dirty="0">
                <a:solidFill>
                  <a:srgbClr val="1E6496"/>
                </a:solidFill>
              </a:rPr>
              <a:t>"extension"</a:t>
            </a:r>
            <a:r>
              <a:rPr lang="en-GB" dirty="0">
                <a:solidFill>
                  <a:srgbClr val="640032"/>
                </a:solidFill>
              </a:rPr>
              <a:t>: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960000"/>
                </a:solidFill>
              </a:rPr>
              <a:t>[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    </a:t>
            </a:r>
            <a:r>
              <a:rPr lang="en-GB" dirty="0">
                <a:solidFill>
                  <a:srgbClr val="960000"/>
                </a:solidFill>
              </a:rPr>
              <a:t>{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      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 err="1">
                <a:solidFill>
                  <a:srgbClr val="1E6496"/>
                </a:solidFill>
              </a:rPr>
              <a:t>url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>
                <a:solidFill>
                  <a:srgbClr val="640032"/>
                </a:solidFill>
              </a:rPr>
              <a:t>: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FF"/>
                </a:solidFill>
              </a:rPr>
              <a:t>"</a:t>
            </a:r>
            <a:r>
              <a:rPr lang="en-GB" dirty="0">
                <a:solidFill>
                  <a:srgbClr val="0000FF"/>
                </a:solidFill>
                <a:highlight>
                  <a:srgbClr val="00FF00"/>
                </a:highlight>
              </a:rPr>
              <a:t>description</a:t>
            </a:r>
            <a:r>
              <a:rPr lang="en-GB" dirty="0">
                <a:solidFill>
                  <a:srgbClr val="0000FF"/>
                </a:solidFill>
              </a:rPr>
              <a:t>"</a:t>
            </a:r>
            <a:r>
              <a:rPr lang="en-GB" dirty="0">
                <a:solidFill>
                  <a:srgbClr val="640032"/>
                </a:solidFill>
              </a:rPr>
              <a:t>,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      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 err="1">
                <a:solidFill>
                  <a:srgbClr val="1E6496"/>
                </a:solidFill>
              </a:rPr>
              <a:t>valueString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>
                <a:solidFill>
                  <a:srgbClr val="640032"/>
                </a:solidFill>
              </a:rPr>
              <a:t>: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FF"/>
                </a:solidFill>
              </a:rPr>
              <a:t>" </a:t>
            </a:r>
            <a:r>
              <a:rPr lang="en-GB" dirty="0">
                <a:solidFill>
                  <a:srgbClr val="0000FF"/>
                </a:solidFill>
                <a:highlight>
                  <a:srgbClr val="FFFF00"/>
                </a:highlight>
              </a:rPr>
              <a:t>aged 18 to 75 years</a:t>
            </a:r>
            <a:r>
              <a:rPr lang="en-GB" dirty="0">
                <a:solidFill>
                  <a:srgbClr val="0000FF"/>
                </a:solidFill>
              </a:rPr>
              <a:t>"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    </a:t>
            </a:r>
            <a:r>
              <a:rPr lang="en-GB" dirty="0">
                <a:solidFill>
                  <a:srgbClr val="960000"/>
                </a:solidFill>
              </a:rPr>
              <a:t>}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  </a:t>
            </a:r>
            <a:r>
              <a:rPr lang="en-GB" dirty="0">
                <a:solidFill>
                  <a:srgbClr val="960000"/>
                </a:solidFill>
              </a:rPr>
              <a:t>]</a:t>
            </a:r>
            <a:r>
              <a:rPr lang="en-GB" dirty="0">
                <a:solidFill>
                  <a:srgbClr val="640032"/>
                </a:solidFill>
              </a:rPr>
              <a:t>,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  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 err="1">
                <a:solidFill>
                  <a:srgbClr val="1E6496"/>
                </a:solidFill>
              </a:rPr>
              <a:t>url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>
                <a:solidFill>
                  <a:srgbClr val="640032"/>
                </a:solidFill>
              </a:rPr>
              <a:t>: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FF"/>
                </a:solidFill>
              </a:rPr>
              <a:t>"http://HL7Vulcan/UDP/IG/</a:t>
            </a:r>
            <a:r>
              <a:rPr lang="en-GB" dirty="0" err="1">
                <a:solidFill>
                  <a:srgbClr val="0000FF"/>
                </a:solidFill>
              </a:rPr>
              <a:t>StructureDefinition</a:t>
            </a:r>
            <a:r>
              <a:rPr lang="en-GB" dirty="0">
                <a:solidFill>
                  <a:srgbClr val="0000FF"/>
                </a:solidFill>
              </a:rPr>
              <a:t>/m11-r5-groupCharacteristic-ext"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</a:t>
            </a:r>
            <a:r>
              <a:rPr lang="en-GB" dirty="0">
                <a:solidFill>
                  <a:srgbClr val="960000"/>
                </a:solidFill>
              </a:rPr>
              <a:t>}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</a:t>
            </a:r>
            <a:r>
              <a:rPr lang="en-GB" dirty="0">
                <a:solidFill>
                  <a:srgbClr val="960000"/>
                </a:solidFill>
              </a:rPr>
              <a:t>]</a:t>
            </a:r>
            <a:r>
              <a:rPr lang="en-GB" dirty="0">
                <a:solidFill>
                  <a:srgbClr val="640032"/>
                </a:solidFill>
              </a:rPr>
              <a:t>,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3540B1-A4C9-4CFA-4065-2C46412E7071}"/>
              </a:ext>
            </a:extLst>
          </p:cNvPr>
          <p:cNvSpPr txBox="1"/>
          <p:nvPr/>
        </p:nvSpPr>
        <p:spPr>
          <a:xfrm>
            <a:off x="730149" y="1189514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R6</a:t>
            </a:r>
            <a:endParaRPr lang="en-GB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575D7C-0B36-C142-30C4-FD6192B1B1AD}"/>
              </a:ext>
            </a:extLst>
          </p:cNvPr>
          <p:cNvSpPr txBox="1"/>
          <p:nvPr/>
        </p:nvSpPr>
        <p:spPr>
          <a:xfrm>
            <a:off x="730149" y="4152687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R5</a:t>
            </a:r>
            <a:endParaRPr lang="en-GB" b="1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1B26F20-536C-42B7-C613-13EAE74F00F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From the Reference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772443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7EC7C9-202F-CDA3-063E-D6475CD6884D}"/>
              </a:ext>
            </a:extLst>
          </p:cNvPr>
          <p:cNvSpPr txBox="1"/>
          <p:nvPr/>
        </p:nvSpPr>
        <p:spPr>
          <a:xfrm>
            <a:off x="1787825" y="1416424"/>
            <a:ext cx="8891677" cy="53553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1E6496"/>
                </a:solidFill>
              </a:rPr>
              <a:t>"extension"</a:t>
            </a:r>
            <a:r>
              <a:rPr lang="en-GB" dirty="0">
                <a:solidFill>
                  <a:srgbClr val="640032"/>
                </a:solidFill>
              </a:rPr>
              <a:t>: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960000"/>
                </a:solidFill>
              </a:rPr>
              <a:t>[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</a:t>
            </a:r>
            <a:r>
              <a:rPr lang="en-GB" dirty="0">
                <a:solidFill>
                  <a:srgbClr val="960000"/>
                </a:solidFill>
              </a:rPr>
              <a:t>{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</a:t>
            </a:r>
            <a:r>
              <a:rPr lang="en-GB" dirty="0">
                <a:solidFill>
                  <a:srgbClr val="1E6496"/>
                </a:solidFill>
              </a:rPr>
              <a:t>"extension"</a:t>
            </a:r>
            <a:r>
              <a:rPr lang="en-GB" dirty="0">
                <a:solidFill>
                  <a:srgbClr val="640032"/>
                </a:solidFill>
              </a:rPr>
              <a:t>: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960000"/>
                </a:solidFill>
              </a:rPr>
              <a:t>[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</a:t>
            </a:r>
            <a:r>
              <a:rPr lang="en-GB" dirty="0">
                <a:solidFill>
                  <a:srgbClr val="960000"/>
                </a:solidFill>
              </a:rPr>
              <a:t>{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  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 err="1">
                <a:solidFill>
                  <a:srgbClr val="1E6496"/>
                </a:solidFill>
              </a:rPr>
              <a:t>url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>
                <a:solidFill>
                  <a:srgbClr val="640032"/>
                </a:solidFill>
              </a:rPr>
              <a:t>: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FF"/>
                </a:solidFill>
              </a:rPr>
              <a:t>"title"</a:t>
            </a:r>
            <a:r>
              <a:rPr lang="en-GB" dirty="0">
                <a:solidFill>
                  <a:srgbClr val="640032"/>
                </a:solidFill>
              </a:rPr>
              <a:t>,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  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 err="1">
                <a:solidFill>
                  <a:srgbClr val="1E6496"/>
                </a:solidFill>
              </a:rPr>
              <a:t>valueString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>
                <a:solidFill>
                  <a:srgbClr val="640032"/>
                </a:solidFill>
              </a:rPr>
              <a:t>: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FF"/>
                </a:solidFill>
              </a:rPr>
              <a:t>"Age and Weight Inclusion Criteria"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</a:t>
            </a:r>
            <a:r>
              <a:rPr lang="en-GB" dirty="0">
                <a:solidFill>
                  <a:srgbClr val="960000"/>
                </a:solidFill>
              </a:rPr>
              <a:t>}</a:t>
            </a:r>
            <a:r>
              <a:rPr lang="en-GB" dirty="0">
                <a:solidFill>
                  <a:srgbClr val="640032"/>
                </a:solidFill>
              </a:rPr>
              <a:t>,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</a:t>
            </a:r>
            <a:r>
              <a:rPr lang="en-GB" dirty="0">
                <a:solidFill>
                  <a:srgbClr val="960000"/>
                </a:solidFill>
              </a:rPr>
              <a:t>{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  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 err="1">
                <a:solidFill>
                  <a:srgbClr val="1E6496"/>
                </a:solidFill>
              </a:rPr>
              <a:t>url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>
                <a:solidFill>
                  <a:srgbClr val="640032"/>
                </a:solidFill>
              </a:rPr>
              <a:t>: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FF"/>
                </a:solidFill>
              </a:rPr>
              <a:t>"status"</a:t>
            </a:r>
            <a:r>
              <a:rPr lang="en-GB" dirty="0">
                <a:solidFill>
                  <a:srgbClr val="640032"/>
                </a:solidFill>
              </a:rPr>
              <a:t>,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  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 err="1">
                <a:solidFill>
                  <a:srgbClr val="1E6496"/>
                </a:solidFill>
              </a:rPr>
              <a:t>valueCode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>
                <a:solidFill>
                  <a:srgbClr val="640032"/>
                </a:solidFill>
              </a:rPr>
              <a:t>: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FF"/>
                </a:solidFill>
              </a:rPr>
              <a:t>"active"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</a:t>
            </a:r>
            <a:r>
              <a:rPr lang="en-GB" dirty="0">
                <a:solidFill>
                  <a:srgbClr val="960000"/>
                </a:solidFill>
              </a:rPr>
              <a:t>}</a:t>
            </a:r>
            <a:r>
              <a:rPr lang="en-GB" dirty="0">
                <a:solidFill>
                  <a:srgbClr val="640032"/>
                </a:solidFill>
              </a:rPr>
              <a:t>,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</a:t>
            </a:r>
            <a:r>
              <a:rPr lang="en-GB" dirty="0">
                <a:solidFill>
                  <a:srgbClr val="960000"/>
                </a:solidFill>
              </a:rPr>
              <a:t>{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  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 err="1">
                <a:solidFill>
                  <a:srgbClr val="1E6496"/>
                </a:solidFill>
              </a:rPr>
              <a:t>url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>
                <a:solidFill>
                  <a:srgbClr val="640032"/>
                </a:solidFill>
              </a:rPr>
              <a:t>: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FF"/>
                </a:solidFill>
              </a:rPr>
              <a:t>"</a:t>
            </a:r>
            <a:r>
              <a:rPr lang="en-GB" dirty="0" err="1">
                <a:solidFill>
                  <a:srgbClr val="0000FF"/>
                </a:solidFill>
              </a:rPr>
              <a:t>combinationMethod</a:t>
            </a:r>
            <a:r>
              <a:rPr lang="en-GB" dirty="0">
                <a:solidFill>
                  <a:srgbClr val="0000FF"/>
                </a:solidFill>
              </a:rPr>
              <a:t>"</a:t>
            </a:r>
            <a:r>
              <a:rPr lang="en-GB" dirty="0">
                <a:solidFill>
                  <a:srgbClr val="640032"/>
                </a:solidFill>
              </a:rPr>
              <a:t>,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  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 err="1">
                <a:solidFill>
                  <a:srgbClr val="1E6496"/>
                </a:solidFill>
              </a:rPr>
              <a:t>valueCode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>
                <a:solidFill>
                  <a:srgbClr val="640032"/>
                </a:solidFill>
              </a:rPr>
              <a:t>: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FF"/>
                </a:solidFill>
              </a:rPr>
              <a:t>"all-of"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  </a:t>
            </a:r>
            <a:r>
              <a:rPr lang="en-GB" dirty="0">
                <a:solidFill>
                  <a:srgbClr val="960000"/>
                </a:solidFill>
              </a:rPr>
              <a:t>}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</a:t>
            </a:r>
            <a:r>
              <a:rPr lang="en-GB" dirty="0">
                <a:solidFill>
                  <a:srgbClr val="960000"/>
                </a:solidFill>
              </a:rPr>
              <a:t>]</a:t>
            </a:r>
            <a:r>
              <a:rPr lang="en-GB" dirty="0">
                <a:solidFill>
                  <a:srgbClr val="640032"/>
                </a:solidFill>
              </a:rPr>
              <a:t>,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  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 err="1">
                <a:solidFill>
                  <a:srgbClr val="1E6496"/>
                </a:solidFill>
              </a:rPr>
              <a:t>url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>
                <a:solidFill>
                  <a:srgbClr val="640032"/>
                </a:solidFill>
              </a:rPr>
              <a:t>: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FF"/>
                </a:solidFill>
              </a:rPr>
              <a:t>"http://HL7Vulcan/UDP/IG/</a:t>
            </a:r>
            <a:r>
              <a:rPr lang="en-GB" dirty="0" err="1">
                <a:solidFill>
                  <a:srgbClr val="0000FF"/>
                </a:solidFill>
              </a:rPr>
              <a:t>StructureDefinition</a:t>
            </a:r>
            <a:r>
              <a:rPr lang="en-GB" dirty="0">
                <a:solidFill>
                  <a:srgbClr val="0000FF"/>
                </a:solidFill>
              </a:rPr>
              <a:t>/m11-r5-group-ext"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  </a:t>
            </a:r>
            <a:r>
              <a:rPr lang="en-GB" dirty="0">
                <a:solidFill>
                  <a:srgbClr val="960000"/>
                </a:solidFill>
              </a:rPr>
              <a:t>}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</a:t>
            </a:r>
            <a:r>
              <a:rPr lang="en-GB" dirty="0">
                <a:solidFill>
                  <a:srgbClr val="960000"/>
                </a:solidFill>
              </a:rPr>
              <a:t>]</a:t>
            </a:r>
            <a:r>
              <a:rPr lang="en-GB" dirty="0">
                <a:solidFill>
                  <a:srgbClr val="640032"/>
                </a:solidFill>
              </a:rPr>
              <a:t>,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55226-1EFE-20C4-AF7F-D00CF97C4D6F}"/>
              </a:ext>
            </a:extLst>
          </p:cNvPr>
          <p:cNvSpPr txBox="1"/>
          <p:nvPr/>
        </p:nvSpPr>
        <p:spPr>
          <a:xfrm>
            <a:off x="1787825" y="338686"/>
            <a:ext cx="8891676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1E6496"/>
                </a:solidFill>
              </a:rPr>
              <a:t>"title"</a:t>
            </a:r>
            <a:r>
              <a:rPr lang="en-GB" dirty="0">
                <a:solidFill>
                  <a:srgbClr val="640032"/>
                </a:solidFill>
              </a:rPr>
              <a:t>: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FF"/>
                </a:solidFill>
              </a:rPr>
              <a:t>"Age and Weight Inclusion Criteria"</a:t>
            </a:r>
            <a:r>
              <a:rPr lang="en-GB" dirty="0">
                <a:solidFill>
                  <a:srgbClr val="640032"/>
                </a:solidFill>
              </a:rPr>
              <a:t>,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</a:t>
            </a:r>
            <a:r>
              <a:rPr lang="en-GB" dirty="0">
                <a:solidFill>
                  <a:srgbClr val="1E6496"/>
                </a:solidFill>
              </a:rPr>
              <a:t>"status"</a:t>
            </a:r>
            <a:r>
              <a:rPr lang="en-GB" dirty="0">
                <a:solidFill>
                  <a:srgbClr val="640032"/>
                </a:solidFill>
              </a:rPr>
              <a:t>: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FF"/>
                </a:solidFill>
              </a:rPr>
              <a:t>"active"</a:t>
            </a:r>
            <a:r>
              <a:rPr lang="en-GB" dirty="0">
                <a:solidFill>
                  <a:srgbClr val="640032"/>
                </a:solidFill>
              </a:rPr>
              <a:t>,</a:t>
            </a:r>
            <a:br>
              <a:rPr lang="en-GB" dirty="0">
                <a:solidFill>
                  <a:srgbClr val="000000"/>
                </a:solidFill>
              </a:rPr>
            </a:br>
            <a:r>
              <a:rPr lang="en-GB" dirty="0">
                <a:solidFill>
                  <a:srgbClr val="000000"/>
                </a:solidFill>
              </a:rPr>
              <a:t>  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 err="1">
                <a:solidFill>
                  <a:srgbClr val="1E6496"/>
                </a:solidFill>
              </a:rPr>
              <a:t>combinationMethod</a:t>
            </a:r>
            <a:r>
              <a:rPr lang="en-GB" dirty="0">
                <a:solidFill>
                  <a:srgbClr val="1E6496"/>
                </a:solidFill>
              </a:rPr>
              <a:t>"</a:t>
            </a:r>
            <a:r>
              <a:rPr lang="en-GB" dirty="0">
                <a:solidFill>
                  <a:srgbClr val="640032"/>
                </a:solidFill>
              </a:rPr>
              <a:t>:</a:t>
            </a:r>
            <a:r>
              <a:rPr lang="en-GB" dirty="0">
                <a:solidFill>
                  <a:srgbClr val="000000"/>
                </a:solidFill>
              </a:rPr>
              <a:t> </a:t>
            </a:r>
            <a:r>
              <a:rPr lang="en-GB" dirty="0">
                <a:solidFill>
                  <a:srgbClr val="0000FF"/>
                </a:solidFill>
              </a:rPr>
              <a:t>"all-of"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0CF257-8CE9-07A7-8B92-F0FE0798B5DD}"/>
              </a:ext>
            </a:extLst>
          </p:cNvPr>
          <p:cNvSpPr txBox="1"/>
          <p:nvPr/>
        </p:nvSpPr>
        <p:spPr>
          <a:xfrm>
            <a:off x="802256" y="465827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R6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0EB776-8D6D-116F-F902-2295EC715912}"/>
              </a:ext>
            </a:extLst>
          </p:cNvPr>
          <p:cNvSpPr txBox="1"/>
          <p:nvPr/>
        </p:nvSpPr>
        <p:spPr>
          <a:xfrm>
            <a:off x="802256" y="3429000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R5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004011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BF661-554F-E3BB-9B43-DFFEE7E7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R6 Vs R5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6914B-1B83-E5AD-A3A2-B46AD969E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</a:t>
            </a:r>
            <a:r>
              <a:rPr lang="en-GB" dirty="0" err="1"/>
              <a:t>Aidbox</a:t>
            </a:r>
            <a:r>
              <a:rPr lang="en-GB" dirty="0"/>
              <a:t> server supports R6</a:t>
            </a:r>
          </a:p>
          <a:p>
            <a:r>
              <a:rPr lang="en-GB" dirty="0"/>
              <a:t>R6 will be published during the development lifetime of a new project – but maybe not an existing project?</a:t>
            </a:r>
          </a:p>
          <a:p>
            <a:r>
              <a:rPr lang="en-GB" dirty="0"/>
              <a:t>R6 has features that are required – they </a:t>
            </a:r>
            <a:r>
              <a:rPr lang="en-GB" b="1" dirty="0"/>
              <a:t>can</a:t>
            </a:r>
            <a:r>
              <a:rPr lang="en-GB" dirty="0"/>
              <a:t> (mostly) be backported into R5There is a cost</a:t>
            </a:r>
          </a:p>
          <a:p>
            <a:pPr lvl="1"/>
            <a:r>
              <a:rPr lang="en-GB" dirty="0"/>
              <a:t>Size of instance files</a:t>
            </a:r>
          </a:p>
          <a:p>
            <a:pPr lvl="1"/>
            <a:r>
              <a:rPr lang="en-GB" dirty="0"/>
              <a:t>Impractical for </a:t>
            </a:r>
            <a:r>
              <a:rPr lang="en-GB" dirty="0" err="1"/>
              <a:t>MedicinalProductDefinition</a:t>
            </a:r>
            <a:r>
              <a:rPr lang="en-GB" dirty="0"/>
              <a:t> (IDMP/GIDWIG)</a:t>
            </a:r>
          </a:p>
          <a:p>
            <a:r>
              <a:rPr lang="en-GB" dirty="0"/>
              <a:t>BUT … Backport is </a:t>
            </a:r>
            <a:r>
              <a:rPr lang="en-GB" b="1" dirty="0"/>
              <a:t>not</a:t>
            </a:r>
            <a:r>
              <a:rPr lang="en-GB" dirty="0"/>
              <a:t> required for text only </a:t>
            </a:r>
          </a:p>
          <a:p>
            <a:r>
              <a:rPr lang="en-GB" dirty="0"/>
              <a:t>What is the implementation Use Case?</a:t>
            </a:r>
          </a:p>
        </p:txBody>
      </p:sp>
    </p:spTree>
    <p:extLst>
      <p:ext uri="{BB962C8B-B14F-4D97-AF65-F5344CB8AC3E}">
        <p14:creationId xmlns:p14="http://schemas.microsoft.com/office/powerpoint/2010/main" val="832285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302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R6 vs R5</vt:lpstr>
      <vt:lpstr>PowerPoint Presentation</vt:lpstr>
      <vt:lpstr>PowerPoint Presentation</vt:lpstr>
      <vt:lpstr>R6 Vs R5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Hugh Glover</dc:creator>
  <cp:lastModifiedBy>Hugh Glover</cp:lastModifiedBy>
  <cp:revision>3</cp:revision>
  <dcterms:created xsi:type="dcterms:W3CDTF">2026-09-25T10:12:19Z</dcterms:created>
  <dcterms:modified xsi:type="dcterms:W3CDTF">2026-09-25T10:30:52Z</dcterms:modified>
</cp:coreProperties>
</file>